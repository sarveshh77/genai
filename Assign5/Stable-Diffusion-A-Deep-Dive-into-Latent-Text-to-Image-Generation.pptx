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4630400" cy="8229600"/>
  <p:notesSz cx="8229600" cy="14630400"/>
  <p:embeddedFontLst>
    <p:embeddedFont>
      <p:font typeface="Open Sans" panose="020B0606030504020204" pitchFamily="3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2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575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Stable Diffusion: A Deep Dive into Latent Text-to-Image Generation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exploration of the architecture, efficiency, and practical advantages of Stable Diffusion for developers and ML engineers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671870"/>
            <a:ext cx="6731794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What is Stable Diffusion?</a:t>
            </a:r>
            <a:endParaRPr lang="en-US" sz="4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54109" y="1838700"/>
            <a:ext cx="4915699" cy="171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Diffusion is a </a:t>
            </a:r>
            <a:r>
              <a:rPr lang="en-US" sz="17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latent text-to-image diffusion model</a:t>
            </a: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generates photorealistic images through iterative denoising guided by natural language prompts.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54110" y="3738937"/>
            <a:ext cx="4915698" cy="205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traditional pixel-based approaches, it operates in </a:t>
            </a:r>
            <a:r>
              <a:rPr lang="en-US" sz="17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compressed latent space</a:t>
            </a: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dramatically reducing memory requirements and computational overhead whilst maintaining exceptional image quality.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54110" y="5981479"/>
            <a:ext cx="4915698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is open-source and highly customisable, making it accessible for both research and production deployments.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C8D7A-250E-A16B-EBA1-27CCE3BD3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592" y="2081768"/>
            <a:ext cx="6054060" cy="6054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32FC4F-9380-A2EB-2C18-1B9FB97496F2}"/>
              </a:ext>
            </a:extLst>
          </p:cNvPr>
          <p:cNvSpPr txBox="1"/>
          <p:nvPr/>
        </p:nvSpPr>
        <p:spPr>
          <a:xfrm>
            <a:off x="8247576" y="921660"/>
            <a:ext cx="6267076" cy="1476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sz="2200" b="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 fantasy girl holding a glowing crystal orb, magical forest, butterflies, ultra detailed, cinematic lighting"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D4D4D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0030" y="933066"/>
            <a:ext cx="5937409" cy="49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Core Architecture Components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69195" y="2583000"/>
            <a:ext cx="6019348" cy="2139475"/>
          </a:xfrm>
          <a:prstGeom prst="roundRect">
            <a:avLst>
              <a:gd name="adj" fmla="val 401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651036" y="2863960"/>
            <a:ext cx="477596" cy="481518"/>
          </a:xfrm>
          <a:prstGeom prst="roundRect">
            <a:avLst>
              <a:gd name="adj" fmla="val 19411618"/>
            </a:avLst>
          </a:prstGeom>
          <a:solidFill>
            <a:srgbClr val="FFAD9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777" y="3110965"/>
            <a:ext cx="211931" cy="2119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75731" y="3576843"/>
            <a:ext cx="1990308" cy="2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CLIP Text Encoder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726576" y="3872496"/>
            <a:ext cx="5104586" cy="43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Transforms natural language prompts into rich semantic embeddings that guide the generation process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465740" y="2583001"/>
            <a:ext cx="5895362" cy="2139475"/>
          </a:xfrm>
          <a:prstGeom prst="roundRect">
            <a:avLst>
              <a:gd name="adj" fmla="val 401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541835" y="2949725"/>
            <a:ext cx="477596" cy="481518"/>
          </a:xfrm>
          <a:prstGeom prst="roundRect">
            <a:avLst>
              <a:gd name="adj" fmla="val 19411618"/>
            </a:avLst>
          </a:prstGeom>
          <a:solidFill>
            <a:srgbClr val="FFAD9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3463" y="3142535"/>
            <a:ext cx="211931" cy="2119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66530" y="3569634"/>
            <a:ext cx="1990308" cy="2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VAE Encoder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617375" y="3848142"/>
            <a:ext cx="5104586" cy="43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Compresses high-resolution images into efficient latent representations for processing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296365" y="4830921"/>
            <a:ext cx="6018835" cy="2139474"/>
          </a:xfrm>
          <a:prstGeom prst="roundRect">
            <a:avLst>
              <a:gd name="adj" fmla="val 401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669791" y="5390227"/>
            <a:ext cx="477596" cy="481518"/>
          </a:xfrm>
          <a:prstGeom prst="roundRect">
            <a:avLst>
              <a:gd name="adj" fmla="val 19411618"/>
            </a:avLst>
          </a:prstGeom>
          <a:solidFill>
            <a:srgbClr val="FFAD9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43055" y="5567416"/>
            <a:ext cx="211931" cy="2119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75731" y="5960459"/>
            <a:ext cx="1990308" cy="2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U-Net Denoiser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726576" y="6221374"/>
            <a:ext cx="5104586" cy="43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and removes noise iteratively through attention mechanisms and skip connections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65740" y="4830921"/>
            <a:ext cx="5895362" cy="2139474"/>
          </a:xfrm>
          <a:prstGeom prst="roundRect">
            <a:avLst>
              <a:gd name="adj" fmla="val 4011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41835" y="5284381"/>
            <a:ext cx="477596" cy="481518"/>
          </a:xfrm>
          <a:prstGeom prst="roundRect">
            <a:avLst>
              <a:gd name="adj" fmla="val 19411618"/>
            </a:avLst>
          </a:prstGeom>
          <a:solidFill>
            <a:srgbClr val="FFAD9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63577" y="5497711"/>
            <a:ext cx="211931" cy="2119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66530" y="5904290"/>
            <a:ext cx="1990308" cy="2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Scheduler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617375" y="6182798"/>
            <a:ext cx="5104586" cy="43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Controls the denoising timeline, determining step count and noise reduction scale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897499" y="6970395"/>
            <a:ext cx="10835283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382" y="621812"/>
            <a:ext cx="8552974" cy="47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50"/>
              </a:lnSpc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The Generation Process: From Noise to Image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282" y="1120259"/>
            <a:ext cx="9743837" cy="5943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77897" y="2282227"/>
            <a:ext cx="2220657" cy="29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Random Noise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1288" y="3169964"/>
            <a:ext cx="525872" cy="5258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33327" y="4917171"/>
            <a:ext cx="2220656" cy="29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CLIP Encode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81703" y="3490581"/>
            <a:ext cx="525872" cy="5258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25642" y="2565705"/>
            <a:ext cx="2292799" cy="29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U-Net Denoise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4114" y="3811198"/>
            <a:ext cx="525871" cy="52587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64966" y="5605899"/>
            <a:ext cx="2220657" cy="29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Scheduler Refine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6361" y="4131815"/>
            <a:ext cx="525871" cy="52587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35998" y="3184754"/>
            <a:ext cx="2220656" cy="295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VAE Decode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75589" y="4476097"/>
            <a:ext cx="525872" cy="52587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99087" y="6160915"/>
            <a:ext cx="11300738" cy="18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403C4E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The generation begins with pure random noise and progressively refines it through guided denoising. The CLIP encoder provides semantic direction, whilst the U-Net iteratively predicts and removes noise patterns. The scheduler determines the pace and intensity of denoising, and finally, the VAE decoder transforms the latent representation back into a high-quality image.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98188"/>
            <a:ext cx="118555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Stable Diffusion vs GANs: Key Distinctions</a:t>
            </a:r>
          </a:p>
        </p:txBody>
      </p:sp>
      <p:sp>
        <p:nvSpPr>
          <p:cNvPr id="4" name="Shape 1"/>
          <p:cNvSpPr/>
          <p:nvPr/>
        </p:nvSpPr>
        <p:spPr>
          <a:xfrm>
            <a:off x="793790" y="464712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4647128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50"/>
              </a:lnSpc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No Mode Collapse</a:t>
            </a:r>
          </a:p>
        </p:txBody>
      </p:sp>
      <p:sp>
        <p:nvSpPr>
          <p:cNvPr id="7" name="Text 4"/>
          <p:cNvSpPr/>
          <p:nvPr/>
        </p:nvSpPr>
        <p:spPr>
          <a:xfrm>
            <a:off x="1142524" y="5394841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Diffusion models avoid the generator-discriminator instability that plagues GAN training, producing more consistent and diverse outputs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464712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86482" y="4647128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0" name="Text 7"/>
          <p:cNvSpPr/>
          <p:nvPr/>
        </p:nvSpPr>
        <p:spPr>
          <a:xfrm>
            <a:off x="5565696" y="4904423"/>
            <a:ext cx="30243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Superior Text Control</a:t>
            </a:r>
          </a:p>
        </p:txBody>
      </p:sp>
      <p:sp>
        <p:nvSpPr>
          <p:cNvPr id="11" name="Text 8"/>
          <p:cNvSpPr/>
          <p:nvPr/>
        </p:nvSpPr>
        <p:spPr>
          <a:xfrm>
            <a:off x="5565696" y="539484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Cross-attention mechanisms between text embeddings and image features enable precise prompt-guided generation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464712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9653" y="4647128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4" name="Text 11"/>
          <p:cNvSpPr/>
          <p:nvPr/>
        </p:nvSpPr>
        <p:spPr>
          <a:xfrm>
            <a:off x="9988868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Training Stability</a:t>
            </a:r>
          </a:p>
        </p:txBody>
      </p:sp>
      <p:sp>
        <p:nvSpPr>
          <p:cNvPr id="15" name="Text 12"/>
          <p:cNvSpPr/>
          <p:nvPr/>
        </p:nvSpPr>
        <p:spPr>
          <a:xfrm>
            <a:off x="9988868" y="539484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Progressive denoising provides a stable training signal without adversarial dynamics, making convergence more reliable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46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0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Stable Diffusion vs DALL·E: The Open Alternative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1651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427107"/>
            <a:ext cx="3356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Open-Source Advantage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91752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model weights, architecture details, and training code available for inspection, modification, and commercial use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731651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427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Local Execution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591752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entirely on your infrastructure without API dependencies, rate limits, or privacy concerns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731651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427107"/>
            <a:ext cx="29698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Fine-Tuning Support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7995" y="591752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Customise the model on domain-specific datasets using techniques like LoRA, DreamBooth, and textual inversion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4703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Computational Efficiency Metrics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187678"/>
            <a:ext cx="6488311" cy="389292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02" y="1187678"/>
            <a:ext cx="6943596" cy="38929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478762" y="5473686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4D1200"/>
          </a:solidFill>
          <a:ln/>
        </p:spPr>
      </p:sp>
      <p:sp>
        <p:nvSpPr>
          <p:cNvPr id="6" name="Text 2"/>
          <p:cNvSpPr/>
          <p:nvPr/>
        </p:nvSpPr>
        <p:spPr>
          <a:xfrm>
            <a:off x="2812137" y="5488662"/>
            <a:ext cx="590312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Pixel Space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712900" y="5488662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BD2C00"/>
          </a:solidFill>
          <a:ln/>
        </p:spPr>
      </p:sp>
      <p:sp>
        <p:nvSpPr>
          <p:cNvPr id="8" name="Text 4"/>
          <p:cNvSpPr/>
          <p:nvPr/>
        </p:nvSpPr>
        <p:spPr>
          <a:xfrm>
            <a:off x="3942516" y="5489376"/>
            <a:ext cx="678061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Latent Space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82194" y="5790418"/>
            <a:ext cx="2698788" cy="40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Performance Gains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82194" y="6199762"/>
            <a:ext cx="4871918" cy="62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Latent diffusion delivers dramatic improvements across all key metrics: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49867" y="6669590"/>
            <a:ext cx="4871918" cy="943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8GB vs 24GB VRAM required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Speed: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12s vs 180s per image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Cost:</a:t>
            </a: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85% reduction in training expenses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82194" y="7562472"/>
            <a:ext cx="4871918" cy="943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improvements make Stable Diffusion practical for production deployments and rapid prototyping.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098"/>
            <a:ext cx="92805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Technical Advantages at a Glance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97505"/>
            <a:ext cx="3090505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1939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Memory Efficient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3622358"/>
            <a:ext cx="26216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on consumer GPUs with 8GB+ VRAM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897505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313193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Fast Inference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45543" y="3622358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512px images in 10-15 seconds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897505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313193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High Quality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62982" y="3622358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photorealistic detail despite compression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897505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313193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Customisable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80420" y="3622358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Fine-tune on domain-specific datasets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72313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224" y="54067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Open Source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8224" y="589716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API fees or usage restrictions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172313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982" y="54067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Times New Roman" panose="02020603050405020304" pitchFamily="18" charset="0"/>
                <a:ea typeface="Merriweather Bold" pitchFamily="34" charset="-122"/>
                <a:cs typeface="Times New Roman" panose="02020603050405020304" pitchFamily="18" charset="0"/>
              </a:rPr>
              <a:t>Production Ready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62982" y="589716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Battle-tested in real-world applications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490</Words>
  <Application>Microsoft Office PowerPoint</Application>
  <PresentationFormat>Custom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Times New Roman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Junaidali Shaikh</dc:creator>
  <cp:lastModifiedBy>Junaidali Shaikh</cp:lastModifiedBy>
  <cp:revision>8</cp:revision>
  <dcterms:created xsi:type="dcterms:W3CDTF">2026-02-09T05:14:10Z</dcterms:created>
  <dcterms:modified xsi:type="dcterms:W3CDTF">2026-02-09T07:40:17Z</dcterms:modified>
</cp:coreProperties>
</file>